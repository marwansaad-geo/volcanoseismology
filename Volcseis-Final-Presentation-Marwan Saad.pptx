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57" r:id="rId4"/>
    <p:sldId id="259" r:id="rId5"/>
    <p:sldId id="258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CE3B4-5B32-4BE5-84F2-6A4F9C753BE4}" v="1488" dt="2026-07-22T20:30:14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8E352-E350-E5FF-3C6F-AAA5BFA3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>
                <a:solidFill>
                  <a:schemeClr val="accent1">
                    <a:lumMod val="49000"/>
                  </a:schemeClr>
                </a:solidFill>
                <a:latin typeface="+mj-lt"/>
                <a:ea typeface="+mj-ea"/>
                <a:cs typeface="+mj-cs"/>
              </a:rPr>
              <a:t>What can 1 week of seismic data reveal about Strokkur's eruption rhythm?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4A77AB4B-AB01-E7AB-596B-33110D55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3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8229" y="520019"/>
            <a:ext cx="9144000" cy="23876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ea typeface="+mj-lt"/>
                <a:cs typeface="Times New Roman"/>
              </a:rPr>
              <a:t>Seismic Analysis of the Strokkur Geyser</a:t>
            </a:r>
            <a:r>
              <a:rPr lang="en-US" dirty="0">
                <a:latin typeface="Times New Roman"/>
                <a:ea typeface="+mj-lt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229" y="3652839"/>
            <a:ext cx="10668000" cy="193153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Marwan Saad, Master Student</a:t>
            </a:r>
            <a:br>
              <a:rPr lang="en-US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br>
              <a:rPr lang="en-US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br>
              <a:rPr lang="en-US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Under Supervision of Prof. Dr. Eva Eibl </a:t>
            </a:r>
            <a:br>
              <a:rPr lang="en-US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br>
              <a:rPr lang="en-US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br>
              <a:rPr lang="en-US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</a:br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ea typeface="Open Sans"/>
                <a:cs typeface="Times New Roman"/>
              </a:rPr>
              <a:t>Seismological Data Science with Application to Volcano Systems​</a:t>
            </a:r>
          </a:p>
        </p:txBody>
      </p:sp>
      <p:pic>
        <p:nvPicPr>
          <p:cNvPr id="5" name="Picture 4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A52219E6-50A7-D4F2-2B23-A625B75CC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28827-887E-1EAD-D250-66938B5F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ea typeface="+mj-lt"/>
                <a:cs typeface="Times New Roman"/>
              </a:rPr>
              <a:t>Strokkur Geyser</a:t>
            </a:r>
            <a:endParaRPr lang="en-US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geyser erupting in a valley&#10;&#10;AI-generated content may be incorrect.">
            <a:extLst>
              <a:ext uri="{FF2B5EF4-FFF2-40B4-BE49-F238E27FC236}">
                <a16:creationId xmlns:a16="http://schemas.microsoft.com/office/drawing/2014/main" id="{3679CE74-8EC4-5B4C-552E-72DE0CC3B8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97" r="19079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70CF-8A9D-B52F-6E86-00BFD46A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b="1" u="sng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Location:</a:t>
            </a:r>
            <a:r>
              <a:rPr lang="en-US" sz="20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in the </a:t>
            </a:r>
            <a:r>
              <a:rPr lang="en-US" sz="20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Haukadalur</a:t>
            </a:r>
            <a:r>
              <a:rPr lang="en-US" sz="20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 geothermal area, southwest Iceland.</a:t>
            </a:r>
          </a:p>
          <a:p>
            <a:r>
              <a:rPr lang="en-US" sz="2000" b="1" u="sng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Eruption:</a:t>
            </a:r>
            <a:r>
              <a:rPr lang="en-US" sz="20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 repeatedly every few minutes, Heated groundwater, steam, and gas build pressure in the conduit.</a:t>
            </a:r>
            <a:endParaRPr lang="en-US" sz="2000" dirty="0">
              <a:solidFill>
                <a:schemeClr val="accent1">
                  <a:lumMod val="49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000" b="1" u="sng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Seismic production:</a:t>
            </a:r>
            <a:r>
              <a:rPr lang="en-US" sz="20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 Bubble collapse and rapid fluid movement generate seismic vibrations.</a:t>
            </a:r>
            <a:endParaRPr lang="en-US" sz="2000" dirty="0">
              <a:solidFill>
                <a:schemeClr val="accent1">
                  <a:lumMod val="49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000" b="1" u="sng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Seismic Monitor usefulness:</a:t>
            </a:r>
            <a:r>
              <a:rPr lang="en-US" sz="2000" dirty="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000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enables continuous, nonvisual eruption detection and recurrence analysis.</a:t>
            </a:r>
          </a:p>
        </p:txBody>
      </p:sp>
      <p:pic>
        <p:nvPicPr>
          <p:cNvPr id="7" name="Picture 6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EC3BF741-5D62-EAFD-640C-E673B26BD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2D0EAC7-9068-F131-55D0-8B8956921AED}"/>
              </a:ext>
            </a:extLst>
          </p:cNvPr>
          <p:cNvSpPr txBox="1">
            <a:spLocks/>
          </p:cNvSpPr>
          <p:nvPr/>
        </p:nvSpPr>
        <p:spPr>
          <a:xfrm>
            <a:off x="6647107" y="5378994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Photo from https://guidetoiceland.is/travel-iceland/drive/strokkur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351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099EB-B7C5-193F-F99B-8457C4F0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Workflow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C3860-6440-E31E-17A4-BF18776A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68" y="30480"/>
            <a:ext cx="5570756" cy="6622868"/>
          </a:xfrm>
          <a:prstGeom prst="rect">
            <a:avLst/>
          </a:prstGeom>
        </p:spPr>
      </p:pic>
      <p:pic>
        <p:nvPicPr>
          <p:cNvPr id="7" name="Picture 6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1D4D74D1-BB04-B8C9-C776-8C3E365E4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33ECD8B-63F1-91B7-23AB-050428C9E1F0}"/>
              </a:ext>
            </a:extLst>
          </p:cNvPr>
          <p:cNvSpPr txBox="1">
            <a:spLocks/>
          </p:cNvSpPr>
          <p:nvPr/>
        </p:nvSpPr>
        <p:spPr>
          <a:xfrm>
            <a:off x="6371336" y="5378994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Figure created with generative AI for illustrative purposes.</a:t>
            </a:r>
            <a:endParaRPr lang="en-US" sz="1200">
              <a:solidFill>
                <a:schemeClr val="accent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532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86B89-5C68-82DC-441E-1D6A97A1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Initial Data Inspection</a:t>
            </a:r>
            <a:endParaRPr lang="en-US" sz="5400" kern="120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42691673-16BC-0675-4CE9-7E4A58575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Sampling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rate: </a:t>
            </a:r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100 Hz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  <a:br>
              <a:rPr lang="en-US" sz="2200" dirty="0">
                <a:latin typeface="Times New Roman"/>
                <a:cs typeface="Times New Roman"/>
              </a:rPr>
            </a:br>
            <a:endParaRPr lang="en-US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7 days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of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Seismic recordings.</a:t>
            </a:r>
          </a:p>
          <a:p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63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Traces.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CFFB31-107F-34BA-30EB-90B2FEA16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44D7F84E-D6E2-AD05-E84B-600C91D5F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D7BD274-84DF-7CC0-ECED-DD16E7D3B1F6}"/>
              </a:ext>
            </a:extLst>
          </p:cNvPr>
          <p:cNvSpPr txBox="1">
            <a:spLocks/>
          </p:cNvSpPr>
          <p:nvPr/>
        </p:nvSpPr>
        <p:spPr>
          <a:xfrm>
            <a:off x="6400365" y="4740365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Figure created with generative AI for illustrative purposes.</a:t>
            </a:r>
            <a:endParaRPr lang="en-US" sz="1200">
              <a:solidFill>
                <a:schemeClr val="accent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14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F2AA-57CD-9A6D-4DAC-3FF7CD45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B82C222-B215-9212-2972-51938E74D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A960F-AC7B-D30F-27F9-DD9A1182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93" y="639520"/>
            <a:ext cx="4045857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preprocessing</a:t>
            </a:r>
            <a:endParaRPr lang="en-US" sz="5400" kern="120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D8B872A7-1B47-7D31-E274-3C39FA0E1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17152DA-A953-89CF-D742-6D7D70DB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193" y="1994408"/>
            <a:ext cx="4357914" cy="43033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Demean</a:t>
            </a: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Detrend</a:t>
            </a: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Apply Hann Taper</a:t>
            </a: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Apply 10-40 Hz band-pass Filter</a:t>
            </a:r>
            <a:endParaRPr lang="en-US">
              <a:solidFill>
                <a:schemeClr val="accent1">
                  <a:lumMod val="49000"/>
                </a:schemeClr>
              </a:solidFill>
              <a:latin typeface="Times New Roman"/>
            </a:endParaRPr>
          </a:p>
        </p:txBody>
      </p:sp>
      <p:pic>
        <p:nvPicPr>
          <p:cNvPr id="5" name="Picture 4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34D95EF3-5561-47A1-DBEB-68D96E20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57CFE4-72FC-4613-098B-DE4A6BF23600}"/>
              </a:ext>
            </a:extLst>
          </p:cNvPr>
          <p:cNvSpPr txBox="1">
            <a:spLocks/>
          </p:cNvSpPr>
          <p:nvPr/>
        </p:nvSpPr>
        <p:spPr>
          <a:xfrm>
            <a:off x="1124421" y="4805120"/>
            <a:ext cx="10911113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>
                <a:solidFill>
                  <a:schemeClr val="accent1">
                    <a:lumMod val="49000"/>
                  </a:schemeClr>
                </a:solidFill>
                <a:latin typeface="Times New Roman"/>
                <a:ea typeface="+mj-lt"/>
                <a:cs typeface="Times New Roman"/>
              </a:rPr>
              <a:t>-Preprocessing reduced drift, edge effects, and low-frequency noise.</a:t>
            </a:r>
            <a:endParaRPr lang="en-US" sz="2800" i="1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7899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3483-1859-2228-F771-1D9131D6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6234128-E8F9-79B5-37F5-BF7D8C035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F3C80-6E0D-3BB9-0D49-770ED0EA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93" y="639520"/>
            <a:ext cx="4045857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Filter Selection </a:t>
            </a:r>
            <a:endParaRPr lang="en-US" sz="5400" kern="120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EBD8810C-122A-F253-6F31-F77D6EB09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1FD75E59-BFB8-4DD1-4C41-1C1972520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193" y="1994408"/>
            <a:ext cx="4357914" cy="4303340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Inspected </a:t>
            </a:r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waveform</a:t>
            </a:r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spectrum</a:t>
            </a:r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, &amp; </a:t>
            </a:r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spectrogram</a:t>
            </a:r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Useful event energy mainly between </a:t>
            </a:r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10-40 Hz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  <a:endParaRPr lang="en-US" sz="24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Filter preserved the transient &amp; </a:t>
            </a:r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reduced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background </a:t>
            </a:r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noise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</a:p>
          <a:p>
            <a:endParaRPr lang="en-US" sz="2400" dirty="0">
              <a:solidFill>
                <a:schemeClr val="accent1">
                  <a:lumMod val="49000"/>
                </a:schemeClr>
              </a:solidFill>
              <a:cs typeface="Times New Roman"/>
            </a:endParaRPr>
          </a:p>
        </p:txBody>
      </p:sp>
      <p:pic>
        <p:nvPicPr>
          <p:cNvPr id="5" name="Picture 4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6BB280CC-FC19-99A3-9E00-F3B4F5D5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B8BDD7-076F-4AC1-524E-F6F35525DBB1}"/>
              </a:ext>
            </a:extLst>
          </p:cNvPr>
          <p:cNvSpPr txBox="1">
            <a:spLocks/>
          </p:cNvSpPr>
          <p:nvPr/>
        </p:nvSpPr>
        <p:spPr>
          <a:xfrm>
            <a:off x="1030079" y="1495863"/>
            <a:ext cx="4045857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Why 10-40 </a:t>
            </a:r>
            <a:r>
              <a:rPr lang="en-US" sz="28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Hz?</a:t>
            </a:r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6261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9217-50B2-D492-D35E-C207142C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D34B678-5299-ED67-C46E-364E135BC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32DFD-5B2F-2AE9-B412-7E2E1E1E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93" y="639520"/>
            <a:ext cx="4045857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Triggering Algorithms in </a:t>
            </a:r>
            <a:r>
              <a:rPr lang="en-US" sz="5400" dirty="0" err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ObsPy</a:t>
            </a:r>
            <a:r>
              <a:rPr lang="en-US" sz="5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 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887E8275-65E1-BE7D-E5C2-BE68D0067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51E49A83-C80A-7889-F5FC-35DD59C3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193" y="1994408"/>
            <a:ext cx="4357914" cy="4303340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Applied to </a:t>
            </a:r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cont</a:t>
            </a:r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inuous data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  <a:endParaRPr lang="en-US" sz="24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Detected </a:t>
            </a:r>
            <a:r>
              <a:rPr lang="en-US" sz="24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sudden</a:t>
            </a:r>
            <a:r>
              <a:rPr lang="en-US" sz="2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seismic 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transients.</a:t>
            </a:r>
          </a:p>
          <a:p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Compared across </a:t>
            </a:r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3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 stations.</a:t>
            </a:r>
          </a:p>
          <a:p>
            <a:r>
              <a:rPr lang="en-US" sz="24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Retained</a:t>
            </a:r>
            <a:r>
              <a:rPr lang="en-US" sz="2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coherent network events.</a:t>
            </a:r>
            <a:endParaRPr lang="en-US" sz="24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accent1">
                  <a:lumMod val="49000"/>
                </a:schemeClr>
              </a:solidFill>
              <a:latin typeface="Aptos"/>
              <a:cs typeface="Times New Roman"/>
            </a:endParaRPr>
          </a:p>
        </p:txBody>
      </p:sp>
      <p:pic>
        <p:nvPicPr>
          <p:cNvPr id="5" name="Picture 4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1DC5A799-F8EE-47B8-5474-CC79FC1BE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8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D4E8-B064-58F2-70F0-572BB748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9B939-8A41-FC8A-A40C-6C967AA6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Grouping detected events 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61B4E-0E1E-CCB1-E4B8-ED557C497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" y="1550194"/>
            <a:ext cx="4580273" cy="4450235"/>
          </a:xfrm>
          <a:prstGeom prst="rect">
            <a:avLst/>
          </a:prstGeom>
        </p:spPr>
      </p:pic>
      <p:sp>
        <p:nvSpPr>
          <p:cNvPr id="4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918D662A-E90F-A244-B9E7-CD03B178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Closely spaced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detections combined.</a:t>
            </a:r>
          </a:p>
          <a:p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Grouping window: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30 S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</a:p>
          <a:p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Compared across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3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 stations.</a:t>
            </a: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Repeated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triggers treated as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1 episode.</a:t>
            </a:r>
            <a:endParaRPr lang="en-US" sz="220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3341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transients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—2904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episodes.</a:t>
            </a:r>
            <a:endParaRPr lang="en-US" sz="2200" b="1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F79D0FB9-B22B-E1DA-592C-8CACF9248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D0EAC7-9068-F131-55D0-8B8956921AED}"/>
              </a:ext>
            </a:extLst>
          </p:cNvPr>
          <p:cNvSpPr txBox="1">
            <a:spLocks/>
          </p:cNvSpPr>
          <p:nvPr/>
        </p:nvSpPr>
        <p:spPr>
          <a:xfrm>
            <a:off x="638193" y="4820194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Screenshot from the Jupyter Notebook analysis.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235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1249-EB33-AC9A-AAE6-041FA34A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7ECF9D3-5696-26AF-EBD2-CD78687E5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42415-B37F-8C2E-6303-DB954E3C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Event cataloging</a:t>
            </a:r>
            <a:r>
              <a:rPr lang="en-US" sz="5400" dirty="0">
                <a:latin typeface="Times New Roman"/>
                <a:cs typeface="Times New Roman"/>
              </a:rPr>
              <a:t> </a:t>
            </a:r>
            <a:endParaRPr lang="en-US" sz="5400" kern="1200" dirty="0"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B38C86D8-FDE3-A641-E0D9-CD05D2D97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918EC4FB-BBAA-515D-09FE-2A716AF5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Grouped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episodes within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2 m.​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Compared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netw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ork peak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amplitudes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.​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Kept the </a:t>
            </a:r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stro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ngest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event per cluster.​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2904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episodes –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1946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principal candidates.</a:t>
            </a:r>
            <a:endParaRPr lang="en-US" sz="2200" b="1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AC228880-261B-2DF1-786D-43070EF5C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2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A9BC-5585-F950-0559-A610E7FF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886D58B-35E0-AF51-589A-8822A540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15A06-7990-4D53-B916-1D4C75BBD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Recurrence analysis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7B0FDEE0-FCF1-3BE1-FAD6-A7E799884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D98CA213-70F5-6FFA-8682-C5CA9D1C2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Stable rate:</a:t>
            </a:r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12-13 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candidates/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hr.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​</a:t>
            </a: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Mean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Interval: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4.78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min.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​</a:t>
            </a:r>
            <a:endParaRPr lang="en-US" sz="2200" b="1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Median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interval: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4.27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min.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Most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interval: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3-6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min.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201A06B9-291C-4BB0-C942-476ED1B0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D70094C-AA7B-BE2E-C6BC-5EDE8C712727}"/>
              </a:ext>
            </a:extLst>
          </p:cNvPr>
          <p:cNvSpPr txBox="1">
            <a:spLocks/>
          </p:cNvSpPr>
          <p:nvPr/>
        </p:nvSpPr>
        <p:spPr>
          <a:xfrm>
            <a:off x="3048530" y="4879413"/>
            <a:ext cx="6755626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-Recurrence seismic activity remained relatively regular throughout the week</a:t>
            </a:r>
            <a:endParaRPr lang="en-US" sz="2800" i="1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927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44D88A-AA70-3E77-D926-E31D1F32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930"/>
            <a:ext cx="12192000" cy="4964140"/>
          </a:xfrm>
          <a:prstGeom prst="rect">
            <a:avLst/>
          </a:prstGeom>
        </p:spPr>
      </p:pic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968D1929-592B-C1EE-F2D8-794C02276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CC65044-045C-C7C5-ABEB-62BD6DD4B6C9}"/>
              </a:ext>
            </a:extLst>
          </p:cNvPr>
          <p:cNvSpPr txBox="1">
            <a:spLocks/>
          </p:cNvSpPr>
          <p:nvPr/>
        </p:nvSpPr>
        <p:spPr>
          <a:xfrm>
            <a:off x="4687679" y="46532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Screenshot from the Jupyter Notebook analysis.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337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EC17-B7C9-1E71-F5F5-9A496913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349B91A-48A3-FC34-B7A4-25A8CA02B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64077-D191-BE31-DE89-05040574A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Rep., event selection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E594755D-694E-A4FD-A92A-C8F501161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562B3183-BA66-863A-399A-B4B05622B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Selected from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final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candidate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catalog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.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Clear at all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3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stations.​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Strong </a:t>
            </a:r>
            <a:r>
              <a:rPr lang="en-US" sz="22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signal to noise</a:t>
            </a:r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ratio.</a:t>
            </a:r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​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200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Visible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on</a:t>
            </a:r>
            <a:r>
              <a:rPr lang="en-US" sz="2200" b="1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2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HHE, HHN, HHZ.​</a:t>
            </a:r>
            <a:endParaRPr lang="en-US" sz="2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8CAF475C-BF3D-1D42-43EB-FB78B45A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BE28072-FA7D-3003-AF24-E522F167CA52}"/>
              </a:ext>
            </a:extLst>
          </p:cNvPr>
          <p:cNvSpPr txBox="1">
            <a:spLocks/>
          </p:cNvSpPr>
          <p:nvPr/>
        </p:nvSpPr>
        <p:spPr>
          <a:xfrm>
            <a:off x="3048530" y="4879413"/>
            <a:ext cx="8083683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-Selected event: 2 January 2026 – 09:50:23.67 UTC</a:t>
            </a:r>
            <a:endParaRPr lang="en-US" sz="2800" i="1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5760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1777B-9115-5F97-BA95-BF607C93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73492"/>
            <a:ext cx="10555967" cy="6264275"/>
          </a:xfrm>
          <a:prstGeom prst="rect">
            <a:avLst/>
          </a:prstGeom>
        </p:spPr>
      </p:pic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F30F1897-0507-B902-67BE-52F9D6674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55FFF6F-1E0D-29DD-4198-037FE0FD7F6F}"/>
              </a:ext>
            </a:extLst>
          </p:cNvPr>
          <p:cNvSpPr txBox="1">
            <a:spLocks/>
          </p:cNvSpPr>
          <p:nvPr/>
        </p:nvSpPr>
        <p:spPr>
          <a:xfrm>
            <a:off x="4992478" y="5197566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Screenshot from the Jupyter Notebook analysis.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0071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36B0-1BA2-4236-6C81-DEB5F0B4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EE16D0-FBA8-7F46-75E0-1E2431E0F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" y="20410"/>
            <a:ext cx="11106603" cy="6838949"/>
          </a:xfrm>
          <a:prstGeom prst="rect">
            <a:avLst/>
          </a:prstGeom>
        </p:spPr>
      </p:pic>
      <p:pic>
        <p:nvPicPr>
          <p:cNvPr id="5" name="Picture 4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5FEE4893-5B8D-2C9D-60F1-0F47A6BAA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A7A3A58-6ECB-0729-B09B-4F68165FDC2E}"/>
              </a:ext>
            </a:extLst>
          </p:cNvPr>
          <p:cNvSpPr txBox="1">
            <a:spLocks/>
          </p:cNvSpPr>
          <p:nvPr/>
        </p:nvSpPr>
        <p:spPr>
          <a:xfrm>
            <a:off x="-436" y="5378994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Screenshot from the Jupyter Notebook analysis.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45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CFAC-068A-A2D0-8107-43E8221A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384A168-FA75-F0F1-8AB6-1DC5CEEEB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61698-AE14-8765-603B-22B5397B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16" y="-875501"/>
            <a:ext cx="9716541" cy="17467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Waveform &amp; Spectrogram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96AE441A-CB6E-24E5-ACE2-4ACE2BAE3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79E91FAC-FBCB-3493-C253-32EDFCAC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E1CE0F-009B-7220-ADE5-992D6482E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8599" y="1005568"/>
            <a:ext cx="9759716" cy="585356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00CCDFB-E49E-676F-CE31-3F4D758D4852}"/>
              </a:ext>
            </a:extLst>
          </p:cNvPr>
          <p:cNvSpPr txBox="1">
            <a:spLocks/>
          </p:cNvSpPr>
          <p:nvPr/>
        </p:nvSpPr>
        <p:spPr>
          <a:xfrm>
            <a:off x="921222" y="5378994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Screenshot from the Jupyter Notebook analysis.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476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BD013-24CA-F361-6FE0-76492981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EBC7D6A-6CE6-B92B-936A-0832B8479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CB2E7-06D1-8D0B-FE79-F248E714B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673" y="-890016"/>
            <a:ext cx="7328941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latin typeface="Times New Roman"/>
                <a:cs typeface="Times New Roman"/>
              </a:rPr>
              <a:t> </a:t>
            </a:r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Particle motion analysis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E683CA17-3C82-BEA1-C6F4-37B4E0AD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A3F6083D-D69B-8FC9-68DE-312CCD9C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C0E0DC-B33E-8752-D06A-CD293E266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8247" y="837634"/>
            <a:ext cx="7181850" cy="60225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C4DF083-3DA6-17EE-D99D-F5C875678F39}"/>
              </a:ext>
            </a:extLst>
          </p:cNvPr>
          <p:cNvSpPr txBox="1">
            <a:spLocks/>
          </p:cNvSpPr>
          <p:nvPr/>
        </p:nvSpPr>
        <p:spPr>
          <a:xfrm>
            <a:off x="-109293" y="5378994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>
                <a:solidFill>
                  <a:schemeClr val="accent1">
                    <a:lumMod val="49000"/>
                  </a:schemeClr>
                </a:solidFill>
                <a:ea typeface="+mj-lt"/>
                <a:cs typeface="+mj-lt"/>
              </a:rPr>
              <a:t>Screenshot from the Jupyter Notebook analysis.</a:t>
            </a:r>
            <a:endParaRPr lang="en-US">
              <a:solidFill>
                <a:schemeClr val="accent1">
                  <a:lumMod val="49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1029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F5BC-4290-9E95-A564-247C786D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E47096D-7596-40F1-455E-DE540896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638DF-4C70-7007-15FF-CED3AF6D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Interpretation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4A81A0B3-D6E3-6B01-0B65-00072D25E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65CF5F43-1C41-D1ED-F6B1-22F878A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323" y="3178338"/>
            <a:ext cx="9890711" cy="3454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The data show regular, persistent seismic activity, with most candidates repeating every 3–6 minutes and the selected event showing a clear waveform, frequency signal, and directional motion.</a:t>
            </a:r>
            <a:endParaRPr lang="en-US">
              <a:solidFill>
                <a:schemeClr val="accent1">
                  <a:lumMod val="49000"/>
                </a:schemeClr>
              </a:solidFill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4D1D6C8F-81B8-D51C-69AE-34767950E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1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B6A6-7431-8AA4-E5C7-C329CC19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1AA49BE9-4E8B-7947-C491-E7C4C89F1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72B32-AAB4-79A6-2016-9427D53E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815" y="517870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Limitations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453D28DE-485A-D38C-F20E-17A523489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BC34F25A-26F1-7FE6-61F0-901475E6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352" y="2880795"/>
            <a:ext cx="9890711" cy="3454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Candidates were not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visually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confirmed eruptions.</a:t>
            </a:r>
            <a:endParaRPr lang="en-US">
              <a:solidFill>
                <a:schemeClr val="accent1">
                  <a:lumMod val="49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No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station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coordinates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were provided.</a:t>
            </a:r>
            <a:endParaRPr lang="en-US">
              <a:solidFill>
                <a:schemeClr val="accent1">
                  <a:lumMod val="49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Back azimuth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retained a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180° 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ambiguity.</a:t>
            </a:r>
            <a:endParaRPr lang="en-US">
              <a:solidFill>
                <a:schemeClr val="accent1">
                  <a:lumMod val="49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The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30 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and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2 min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thresholds were project-specific choices.</a:t>
            </a:r>
            <a:endParaRPr lang="en-US">
              <a:solidFill>
                <a:schemeClr val="accent1">
                  <a:lumMod val="49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Day 7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contained only about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12 hours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of data.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9A59C670-1C49-556B-685D-6341A20B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9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4E720-6281-5065-6DF7-9AC4AACA4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8C05AF4-08C3-91F8-72BD-91CAD67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DE67B-A44C-0A43-F900-178177EE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815" y="517870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Conclu</a:t>
            </a:r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sions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957BC530-100A-5967-9F80-E1B4F6B93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605BFB2D-9DC8-D8DE-9A4D-D12D8DC09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352" y="2880795"/>
            <a:ext cx="9890711" cy="3454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Continuous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seismic monitoring successfully detected recurring Strokkur-related events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throughout the week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 The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principal candidates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occurred mainly every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3–6 minutes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, while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waveform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,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spectrogram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, and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particle-motion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analysis clearly characterized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one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representative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event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 The results show that seismic data can effectively monitor regular geyser activity, although independent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visual confirmation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and station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coordinates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would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improve the interpretation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584CDB39-0125-A870-8240-799B5A12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84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E765-3409-E2E0-BCA0-C0CC297E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545A0D8-0CA6-8935-9DA5-7D9FAD70F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D230A-FCF0-0613-6294-2DEC47E0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815" y="517870"/>
            <a:ext cx="675562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References</a:t>
            </a:r>
            <a:endParaRPr lang="en-US" sz="5400" kern="1200" dirty="0">
              <a:solidFill>
                <a:schemeClr val="accent1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56A9B16B-F265-04F3-D34B-769FB9176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901F004-01BF-A2BA-2860-6472BF3F6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323" y="2873538"/>
            <a:ext cx="9890711" cy="345483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Eibl, E. P. S., et al. (2020). </a:t>
            </a:r>
            <a:r>
              <a:rPr lang="en-US" i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Eruption interval monitoring at Strokkur Geyser, Iceland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Geophysical Research Letters, 47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, e2019GL085266. 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Eibl, E. P. S., et al. (2024). </a:t>
            </a:r>
            <a:r>
              <a:rPr lang="en-US" i="1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Video camera and seismic monitoring of water-bulge explosions at Strokkur Geyser, Iceland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 </a:t>
            </a:r>
            <a:r>
              <a:rPr lang="en-US" b="1" dirty="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Volcanica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, 7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(1). </a:t>
            </a:r>
            <a:endParaRPr lang="en-US" dirty="0">
              <a:solidFill>
                <a:schemeClr val="accent1">
                  <a:lumMod val="49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GFZ German Research Centre for Geosciences. (2020). </a:t>
            </a:r>
            <a:r>
              <a:rPr lang="en-US" i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Seismological experiment at Strokkur from 2020—Network 2Z</a:t>
            </a:r>
            <a:r>
              <a:rPr lang="en-US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 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ObsPy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Development Team. </a:t>
            </a:r>
            <a:r>
              <a:rPr lang="en-US" i="1" dirty="0" err="1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ObsPy</a:t>
            </a:r>
            <a:r>
              <a:rPr lang="en-US" i="1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 documentation: Python framework for processing seismological data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solidFill>
                <a:schemeClr val="accent1">
                  <a:lumMod val="49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endParaRPr lang="en-US" sz="2200">
              <a:latin typeface="Aptos"/>
              <a:cs typeface="Times New Roman"/>
            </a:endParaRPr>
          </a:p>
        </p:txBody>
      </p:sp>
      <p:pic>
        <p:nvPicPr>
          <p:cNvPr id="6" name="Picture 5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DE3B68B1-79D0-B56D-7C6A-2E6E01419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17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A397-CD20-360A-662B-91DA659A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029" y="1453696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0FF78-7E8D-F872-606F-710120A01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939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Do not be hesitant to ask any </a:t>
            </a:r>
            <a:r>
              <a:rPr lang="en-US" b="1">
                <a:solidFill>
                  <a:schemeClr val="accent1">
                    <a:lumMod val="49000"/>
                  </a:schemeClr>
                </a:solidFill>
                <a:latin typeface="Times New Roman"/>
                <a:cs typeface="Times New Roman"/>
              </a:rPr>
              <a:t>Questions!</a:t>
            </a:r>
          </a:p>
        </p:txBody>
      </p:sp>
      <p:pic>
        <p:nvPicPr>
          <p:cNvPr id="5" name="Picture 4" descr="A logo with a building and text&#10;&#10;AI-generated content may be incorrect.">
            <a:extLst>
              <a:ext uri="{FF2B5EF4-FFF2-40B4-BE49-F238E27FC236}">
                <a16:creationId xmlns:a16="http://schemas.microsoft.com/office/drawing/2014/main" id="{4B2DC3DF-28BF-97E4-60DD-036704586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48" y="-228"/>
            <a:ext cx="15906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49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What can 1 week of seismic data reveal about Strokkur's eruption rhythm?</vt:lpstr>
      <vt:lpstr>Seismic Analysis of the Strokkur Geyser </vt:lpstr>
      <vt:lpstr>Strokkur Geyser</vt:lpstr>
      <vt:lpstr>Workflow</vt:lpstr>
      <vt:lpstr>Initial Data Inspection</vt:lpstr>
      <vt:lpstr>preprocessing</vt:lpstr>
      <vt:lpstr>Filter Selection </vt:lpstr>
      <vt:lpstr>Triggering Algorithms in ObsPy </vt:lpstr>
      <vt:lpstr>Grouping detected events </vt:lpstr>
      <vt:lpstr>Event cataloging </vt:lpstr>
      <vt:lpstr>Recurrence analysis</vt:lpstr>
      <vt:lpstr>PowerPoint Presentation</vt:lpstr>
      <vt:lpstr>Rep., event selection</vt:lpstr>
      <vt:lpstr>PowerPoint Presentation</vt:lpstr>
      <vt:lpstr>PowerPoint Presentation</vt:lpstr>
      <vt:lpstr>Waveform &amp; Spectrogram</vt:lpstr>
      <vt:lpstr> Particle motion analysis</vt:lpstr>
      <vt:lpstr>Interpretation</vt:lpstr>
      <vt:lpstr>Limitations</vt:lpstr>
      <vt:lpstr>Conclusions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592</cp:revision>
  <dcterms:created xsi:type="dcterms:W3CDTF">2026-07-21T18:36:47Z</dcterms:created>
  <dcterms:modified xsi:type="dcterms:W3CDTF">2026-07-22T20:31:11Z</dcterms:modified>
</cp:coreProperties>
</file>